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F3B4D"/>
                </a:solidFill>
              </a:defRPr>
            </a:pPr>
            <a:r>
              <a:t>Projeto EDA - Ciencia de Dados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Parte A: Percepcao dos Brasileiros Acerca da Democracia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Parte B: Inadimplencia de Pessoas Fisicas no Brasil</a:t>
            </a:r>
          </a:p>
          <a:p>
            <a:pPr>
              <a:defRPr sz="2200">
                <a:solidFill>
                  <a:srgbClr val="333333"/>
                </a:solidFill>
              </a:defRPr>
            </a:pP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Projeto I - EDA | IMT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B4D"/>
                </a:solidFill>
              </a:defRPr>
            </a:pPr>
            <a:r>
              <a:t>Duas perguntas, um fio condutor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200">
                <a:solidFill>
                  <a:srgbClr val="333333"/>
                </a:solidFill>
              </a:rPr>
              <a:t>O que declaramos x o que fazemos</a:t>
            </a:r>
          </a:p>
          <a:p>
            <a:pPr/>
            <a:r>
              <a:rPr b="0" sz="2200">
                <a:solidFill>
                  <a:srgbClr val="333333"/>
                </a:solidFill>
              </a:rPr>
              <a:t>Parte A: grupos que votam mais tambem </a:t>
            </a:r>
            <a:r>
              <a:rPr b="1" sz="2200">
                <a:solidFill>
                  <a:srgbClr val="333333"/>
                </a:solidFill>
              </a:rPr>
              <a:t>querem</a:t>
            </a:r>
            <a:r>
              <a:rPr b="0" sz="2200">
                <a:solidFill>
                  <a:srgbClr val="333333"/>
                </a:solidFill>
              </a:rPr>
              <a:t> participar mais da politica?</a:t>
            </a:r>
          </a:p>
          <a:p>
            <a:pPr/>
            <a:r>
              <a:rPr b="0" sz="2200">
                <a:solidFill>
                  <a:srgbClr val="333333"/>
                </a:solidFill>
              </a:rPr>
              <a:t>Parte B: a inadimplencia reage </a:t>
            </a:r>
            <a:r>
              <a:rPr b="1" sz="2200">
                <a:solidFill>
                  <a:srgbClr val="333333"/>
                </a:solidFill>
              </a:rPr>
              <a:t>na hora</a:t>
            </a:r>
            <a:r>
              <a:rPr b="0" sz="2200">
                <a:solidFill>
                  <a:srgbClr val="333333"/>
                </a:solidFill>
              </a:rPr>
              <a:t> aos juros, ou existe um </a:t>
            </a:r>
            <a:r>
              <a:rPr b="1" sz="2200">
                <a:solidFill>
                  <a:srgbClr val="333333"/>
                </a:solidFill>
              </a:rPr>
              <a:t>atraso</a:t>
            </a:r>
            <a:r>
              <a:rPr b="0" sz="2200">
                <a:solidFill>
                  <a:srgbClr val="333333"/>
                </a:solidFill>
              </a:rPr>
              <a:t>?</a:t>
            </a:r>
          </a:p>
          <a:p>
            <a:pPr/>
            <a:r>
              <a:rPr b="0" sz="2200">
                <a:solidFill>
                  <a:srgbClr val="333333"/>
                </a:solidFill>
              </a:rPr>
              <a:t>Em ambos os casos: </a:t>
            </a:r>
            <a:r>
              <a:rPr b="1" sz="2200">
                <a:solidFill>
                  <a:srgbClr val="333333"/>
                </a:solidFill>
              </a:rPr>
              <a:t>percepcao/decisao declarada vs. comportamento real ao longo do tempo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B4D"/>
                </a:solidFill>
              </a:defRPr>
            </a:pPr>
            <a:r>
              <a:t>Dados e metodo (Parte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200">
                <a:solidFill>
                  <a:srgbClr val="333333"/>
                </a:solidFill>
              </a:rPr>
              <a:t>Duas bases, uma ponte</a:t>
            </a:r>
          </a:p>
          <a:p>
            <a:pPr lvl="1"/>
            <a:r>
              <a:rPr b="1" sz="1900">
                <a:solidFill>
                  <a:srgbClr val="333333"/>
                </a:solidFill>
              </a:rPr>
              <a:t>Ponte:</a:t>
            </a:r>
            <a:r>
              <a:rPr b="0" sz="1900">
                <a:solidFill>
                  <a:srgbClr val="333333"/>
                </a:solidFill>
              </a:rPr>
              <a:t> dimensoes comuns (regiao, escolaridade, idade) -&gt; comparacao ecologica</a:t>
            </a:r>
          </a:p>
          <a:p>
            <a:pPr lvl="1"/>
            <a:r>
              <a:rPr b="1" sz="1900">
                <a:solidFill>
                  <a:srgbClr val="333333"/>
                </a:solidFill>
              </a:rPr>
              <a:t>Ferramentas:</a:t>
            </a:r>
            <a:r>
              <a:rPr b="0" sz="1900">
                <a:solidFill>
                  <a:srgbClr val="333333"/>
                </a:solidFill>
              </a:rPr>
              <a:t> Python (pandas, NumPy, pyreadstat), Matplotlib/Seaborn</a:t>
            </a:r>
          </a:p>
          <a:p>
            <a:pPr lvl="1"/>
            <a:r>
              <a:rPr b="1" sz="1900">
                <a:solidFill>
                  <a:srgbClr val="333333"/>
                </a:solidFill>
              </a:rPr>
              <a:t>Estatistica:</a:t>
            </a:r>
            <a:r>
              <a:rPr b="0" sz="1900">
                <a:solidFill>
                  <a:srgbClr val="333333"/>
                </a:solidFill>
              </a:rPr>
              <a:t> correlacao de Spearman (rho) entre grupos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0" y="1463040"/>
          <a:ext cx="51206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O que mede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Tamanho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500"/>
                        <a:t>CESOP/04832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500"/>
                        <a:t>Opiniao declarada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500"/>
                        <a:t>2.000 respondentes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500"/>
                        <a:t>TSE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500"/>
                        <a:t>Comportamento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500"/>
                        <a:t>8,8 mi linhas / 311,5 mi aptos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B4D"/>
                </a:solidFill>
              </a:defRPr>
            </a:pPr>
            <a:r>
              <a:t>O que os brasileiros declaram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200">
                <a:solidFill>
                  <a:srgbClr val="333333"/>
                </a:solidFill>
              </a:rPr>
              <a:t>Quatro retratos da pesquisa (CESOP)</a:t>
            </a:r>
          </a:p>
          <a:p>
            <a:pPr/>
            <a:r>
              <a:rPr b="0" sz="2200">
                <a:solidFill>
                  <a:srgbClr val="333333"/>
                </a:solidFill>
              </a:rPr>
              <a:t>~65% nao lembram em quem votaram para o Legislativo em 2022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Prioridades:</a:t>
            </a:r>
            <a:r>
              <a:rPr b="0" sz="2200">
                <a:solidFill>
                  <a:srgbClr val="333333"/>
                </a:solidFill>
              </a:rPr>
              <a:t> saude (20%), emprego (15%); "ampliar participacao politica" e a penultima (2%)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Fake news:</a:t>
            </a:r>
            <a:r>
              <a:rPr b="0" sz="2200">
                <a:solidFill>
                  <a:srgbClr val="333333"/>
                </a:solidFill>
              </a:rPr>
              <a:t> preferem </a:t>
            </a:r>
            <a:r>
              <a:rPr b="1" sz="2200">
                <a:solidFill>
                  <a:srgbClr val="333333"/>
                </a:solidFill>
              </a:rPr>
              <a:t>punir (67%)</a:t>
            </a:r>
            <a:r>
              <a:rPr b="0" sz="2200">
                <a:solidFill>
                  <a:srgbClr val="333333"/>
                </a:solidFill>
              </a:rPr>
              <a:t> a </a:t>
            </a:r>
            <a:r>
              <a:rPr b="1" sz="2200">
                <a:solidFill>
                  <a:srgbClr val="333333"/>
                </a:solidFill>
              </a:rPr>
              <a:t>regular (33%)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78% nao tem nenhuma vontade</a:t>
            </a:r>
            <a:r>
              <a:rPr b="0" sz="2200">
                <a:solidFill>
                  <a:srgbClr val="333333"/>
                </a:solidFill>
              </a:rPr>
              <a:t> de participar da politica local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B4D"/>
                </a:solidFill>
              </a:defRPr>
            </a:pPr>
            <a:r>
              <a:t>O comportamento real (TSE 2022)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200">
                <a:solidFill>
                  <a:srgbClr val="333333"/>
                </a:solidFill>
              </a:rPr>
              <a:t>Quem comparece? A escolaridade separa</a:t>
            </a:r>
          </a:p>
          <a:p>
            <a:pPr/>
            <a:r>
              <a:rPr b="0" sz="2200">
                <a:solidFill>
                  <a:srgbClr val="333333"/>
                </a:solidFill>
              </a:rPr>
              <a:t>Comparecimento nacional: </a:t>
            </a:r>
            <a:r>
              <a:rPr b="1" sz="2200">
                <a:solidFill>
                  <a:srgbClr val="333333"/>
                </a:solidFill>
              </a:rPr>
              <a:t>79,4%</a:t>
            </a:r>
          </a:p>
          <a:p>
            <a:pPr/>
            <a:r>
              <a:rPr b="0" sz="2200">
                <a:solidFill>
                  <a:srgbClr val="333333"/>
                </a:solidFill>
              </a:rPr>
              <a:t>Por </a:t>
            </a:r>
            <a:r>
              <a:rPr b="1" sz="2200">
                <a:solidFill>
                  <a:srgbClr val="333333"/>
                </a:solidFill>
              </a:rPr>
              <a:t>escolaridade</a:t>
            </a:r>
            <a:r>
              <a:rPr b="0" sz="2200">
                <a:solidFill>
                  <a:srgbClr val="333333"/>
                </a:solidFill>
              </a:rPr>
              <a:t>: de </a:t>
            </a:r>
            <a:r>
              <a:rPr b="1" sz="2200">
                <a:solidFill>
                  <a:srgbClr val="333333"/>
                </a:solidFill>
              </a:rPr>
              <a:t>49% (analfabetos)</a:t>
            </a:r>
            <a:r>
              <a:rPr b="0" sz="2200">
                <a:solidFill>
                  <a:srgbClr val="333333"/>
                </a:solidFill>
              </a:rPr>
              <a:t> a </a:t>
            </a:r>
            <a:r>
              <a:rPr b="1" sz="2200">
                <a:solidFill>
                  <a:srgbClr val="333333"/>
                </a:solidFill>
              </a:rPr>
              <a:t>88% (superior)</a:t>
            </a:r>
            <a:r>
              <a:rPr b="0" sz="2200">
                <a:solidFill>
                  <a:srgbClr val="333333"/>
                </a:solidFill>
              </a:rPr>
              <a:t> -&gt; ~25-38 p.p.</a:t>
            </a:r>
          </a:p>
          <a:p>
            <a:pPr/>
            <a:r>
              <a:rPr b="0" sz="2200">
                <a:solidFill>
                  <a:srgbClr val="333333"/>
                </a:solidFill>
              </a:rPr>
              <a:t>Por </a:t>
            </a:r>
            <a:r>
              <a:rPr b="1" sz="2200">
                <a:solidFill>
                  <a:srgbClr val="333333"/>
                </a:solidFill>
              </a:rPr>
              <a:t>regiao</a:t>
            </a:r>
            <a:r>
              <a:rPr b="0" sz="2200">
                <a:solidFill>
                  <a:srgbClr val="333333"/>
                </a:solidFill>
              </a:rPr>
              <a:t>: amplitude de </a:t>
            </a:r>
            <a:r>
              <a:rPr b="1" sz="2200">
                <a:solidFill>
                  <a:srgbClr val="333333"/>
                </a:solidFill>
              </a:rPr>
              <a:t>apenas ~3 p.p.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B4D"/>
                </a:solidFill>
              </a:defRPr>
            </a:pPr>
            <a:r>
              <a:t>Nucleo A: escolaridade ALINHA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200">
                <a:solidFill>
                  <a:srgbClr val="333333"/>
                </a:solidFill>
              </a:rPr>
              <a:t>Percepcao e comportamento sobem juntos - rho = 1,00</a:t>
            </a:r>
          </a:p>
          <a:p>
            <a:pPr/>
            <a:r>
              <a:rPr b="0" sz="2200">
                <a:solidFill>
                  <a:srgbClr val="333333"/>
                </a:solidFill>
              </a:rPr>
              <a:t>A cada degrau de escolaridade sobem juntos:</a:t>
            </a:r>
          </a:p>
          <a:p>
            <a:pPr lvl="1"/>
            <a:r>
              <a:rPr b="0" sz="1900">
                <a:solidFill>
                  <a:srgbClr val="333333"/>
                </a:solidFill>
              </a:rPr>
              <a:t>Comparecimento real (TSE): ~62% -&gt; ~87%</a:t>
            </a:r>
          </a:p>
          <a:p>
            <a:pPr lvl="1"/>
            <a:r>
              <a:rPr b="0" sz="1900">
                <a:solidFill>
                  <a:srgbClr val="333333"/>
                </a:solidFill>
              </a:rPr>
              <a:t>Disposicao declarada (CESOP): ~11% -&gt; ~34%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Correlacao perfeita (rho = 1,00)</a:t>
            </a:r>
            <a:r>
              <a:rPr b="0" sz="2200">
                <a:solidFill>
                  <a:srgbClr val="333333"/>
                </a:solidFill>
              </a:rPr>
              <a:t> - a renda reproduz o mesmo gradiente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B4D"/>
                </a:solidFill>
              </a:defRPr>
            </a:pPr>
            <a:r>
              <a:t>Nucleo A: regiao DISSOCIA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200">
                <a:solidFill>
                  <a:srgbClr val="333333"/>
                </a:solidFill>
              </a:rPr>
              <a:t>Por regiao, percepcao e comportamento se OPOEM - rho = -0,30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Sul:</a:t>
            </a:r>
            <a:r>
              <a:rPr b="0" sz="2200">
                <a:solidFill>
                  <a:srgbClr val="333333"/>
                </a:solidFill>
              </a:rPr>
              <a:t> vota mais (~81%), mas e o </a:t>
            </a:r>
            <a:r>
              <a:rPr b="1" sz="2200">
                <a:solidFill>
                  <a:srgbClr val="333333"/>
                </a:solidFill>
              </a:rPr>
              <a:t>mais desinteressado</a:t>
            </a:r>
            <a:r>
              <a:rPr b="0" sz="2200">
                <a:solidFill>
                  <a:srgbClr val="333333"/>
                </a:solidFill>
              </a:rPr>
              <a:t> (~81% "nenhuma vontade")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Norte:</a:t>
            </a:r>
            <a:r>
              <a:rPr b="0" sz="2200">
                <a:solidFill>
                  <a:srgbClr val="333333"/>
                </a:solidFill>
              </a:rPr>
              <a:t> declara a </a:t>
            </a:r>
            <a:r>
              <a:rPr b="1" sz="2200">
                <a:solidFill>
                  <a:srgbClr val="333333"/>
                </a:solidFill>
              </a:rPr>
              <a:t>maior lembranca de voto (41%)</a:t>
            </a:r>
            <a:r>
              <a:rPr b="0" sz="2200">
                <a:solidFill>
                  <a:srgbClr val="333333"/>
                </a:solidFill>
              </a:rPr>
              <a:t>, mas tem o </a:t>
            </a:r>
            <a:r>
              <a:rPr b="1" sz="2200">
                <a:solidFill>
                  <a:srgbClr val="333333"/>
                </a:solidFill>
              </a:rPr>
              <a:t>menor comparecimento real (78%)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Comparecer != querer participar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B4D"/>
                </a:solidFill>
              </a:defRPr>
            </a:pPr>
            <a:r>
              <a:t>Conclusao - Parte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200">
                <a:solidFill>
                  <a:srgbClr val="333333"/>
                </a:solidFill>
              </a:rPr>
              <a:t>E a escolaridade - nao a regiao - que organiza o engajamento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Unico eixo</a:t>
            </a:r>
            <a:r>
              <a:rPr b="0" sz="2200">
                <a:solidFill>
                  <a:srgbClr val="333333"/>
                </a:solidFill>
              </a:rPr>
              <a:t> em que opiniao e comportamento se </a:t>
            </a:r>
            <a:r>
              <a:rPr b="1" sz="2200">
                <a:solidFill>
                  <a:srgbClr val="333333"/>
                </a:solidFill>
              </a:rPr>
              <a:t>alinham</a:t>
            </a:r>
            <a:r>
              <a:rPr b="0" sz="2200">
                <a:solidFill>
                  <a:srgbClr val="333333"/>
                </a:solidFill>
              </a:rPr>
              <a:t> (rho = 1,00)</a:t>
            </a:r>
          </a:p>
          <a:p>
            <a:pPr/>
            <a:r>
              <a:rPr b="0" sz="2200">
                <a:solidFill>
                  <a:srgbClr val="333333"/>
                </a:solidFill>
              </a:rPr>
              <a:t>O brasileiro retratado </a:t>
            </a:r>
            <a:r>
              <a:rPr b="1" sz="2200">
                <a:solidFill>
                  <a:srgbClr val="333333"/>
                </a:solidFill>
              </a:rPr>
              <a:t>comparece</a:t>
            </a:r>
            <a:r>
              <a:rPr b="0" sz="2200">
                <a:solidFill>
                  <a:srgbClr val="333333"/>
                </a:solidFill>
              </a:rPr>
              <a:t> (79,4%), mas </a:t>
            </a:r>
            <a:r>
              <a:rPr b="1" sz="2200">
                <a:solidFill>
                  <a:srgbClr val="333333"/>
                </a:solidFill>
              </a:rPr>
              <a:t>nao quer participar</a:t>
            </a:r>
            <a:r>
              <a:rPr b="0" sz="2200">
                <a:solidFill>
                  <a:srgbClr val="333333"/>
                </a:solidFill>
              </a:rPr>
              <a:t> e </a:t>
            </a:r>
            <a:r>
              <a:rPr b="1" sz="2200">
                <a:solidFill>
                  <a:srgbClr val="333333"/>
                </a:solidFill>
              </a:rPr>
              <a:t>nao lembra</a:t>
            </a:r>
            <a:r>
              <a:rPr b="0" sz="2200">
                <a:solidFill>
                  <a:srgbClr val="333333"/>
                </a:solidFill>
              </a:rPr>
              <a:t> do voto</a:t>
            </a:r>
          </a:p>
          <a:p>
            <a:pPr lvl="1"/>
            <a:r>
              <a:rPr b="0" sz="1900">
                <a:solidFill>
                  <a:srgbClr val="333333"/>
                </a:solidFill>
              </a:rPr>
              <a:t>-&gt; quer </a:t>
            </a:r>
            <a:r>
              <a:rPr b="1" sz="1900">
                <a:solidFill>
                  <a:srgbClr val="333333"/>
                </a:solidFill>
              </a:rPr>
              <a:t>resultados</a:t>
            </a:r>
            <a:r>
              <a:rPr b="0" sz="1900">
                <a:solidFill>
                  <a:srgbClr val="333333"/>
                </a:solidFill>
              </a:rPr>
              <a:t> mais que </a:t>
            </a:r>
            <a:r>
              <a:rPr b="1" sz="1900">
                <a:solidFill>
                  <a:srgbClr val="333333"/>
                </a:solidFill>
              </a:rPr>
              <a:t>tomar parte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B4D"/>
                </a:solidFill>
              </a:defRPr>
            </a:pPr>
            <a:r>
              <a:t>Dados e metodo (Parte 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200">
                <a:solidFill>
                  <a:srgbClr val="333333"/>
                </a:solidFill>
              </a:rPr>
              <a:t>Serie temporal direto da fonte oficial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Fonte:</a:t>
            </a:r>
            <a:r>
              <a:rPr b="0" sz="2200">
                <a:solidFill>
                  <a:srgbClr val="333333"/>
                </a:solidFill>
              </a:rPr>
              <a:t> API do Banco Central (SGS) - series em tempo real</a:t>
            </a:r>
          </a:p>
          <a:p>
            <a:pPr lvl="1"/>
            <a:r>
              <a:rPr b="0" sz="1900">
                <a:solidFill>
                  <a:srgbClr val="333333"/>
                </a:solidFill>
              </a:rPr>
              <a:t>Inadimplencia PF (21082), Selic (4390), Cambio/Dolar (3695)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Periodo:</a:t>
            </a:r>
            <a:r>
              <a:rPr b="0" sz="2200">
                <a:solidFill>
                  <a:srgbClr val="333333"/>
                </a:solidFill>
              </a:rPr>
              <a:t> mar/2011 a abr/2026 - </a:t>
            </a:r>
            <a:r>
              <a:rPr b="1" sz="2200">
                <a:solidFill>
                  <a:srgbClr val="333333"/>
                </a:solidFill>
              </a:rPr>
              <a:t>182 observacoes mensais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Tecnicas:</a:t>
            </a:r>
            <a:r>
              <a:rPr b="0" sz="2200">
                <a:solidFill>
                  <a:srgbClr val="333333"/>
                </a:solidFill>
              </a:rPr>
              <a:t> decomposicao aditiva, correlacao com lags de 3 e 6 meses, teste ADF (estacionariedade), modelo ARIMA(1,1,1)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B4D"/>
                </a:solidFill>
              </a:defRPr>
            </a:pPr>
            <a:r>
              <a:t>Evolucao historica e sazonalidade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200">
                <a:solidFill>
                  <a:srgbClr val="333333"/>
                </a:solidFill>
              </a:rPr>
              <a:t>Ciclos macroeconomicos + calendario das familias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Ciclos:</a:t>
            </a:r>
            <a:r>
              <a:rPr b="0" sz="2200">
                <a:solidFill>
                  <a:srgbClr val="333333"/>
                </a:solidFill>
              </a:rPr>
              <a:t> alta na crise 2015-2017, queda 2018-2020, </a:t>
            </a:r>
            <a:r>
              <a:rPr b="1" sz="2200">
                <a:solidFill>
                  <a:srgbClr val="333333"/>
                </a:solidFill>
              </a:rPr>
              <a:t>queda atipica na pandemia</a:t>
            </a:r>
            <a:r>
              <a:rPr b="0" sz="2200">
                <a:solidFill>
                  <a:srgbClr val="333333"/>
                </a:solidFill>
              </a:rPr>
              <a:t> (auxilios/renegociacoes), </a:t>
            </a:r>
            <a:r>
              <a:rPr b="1" sz="2200">
                <a:solidFill>
                  <a:srgbClr val="333333"/>
                </a:solidFill>
              </a:rPr>
              <a:t>pico historico em 2026</a:t>
            </a:r>
          </a:p>
          <a:p>
            <a:pPr/>
            <a:r>
              <a:rPr b="0" sz="2200">
                <a:solidFill>
                  <a:srgbClr val="333333"/>
                </a:solidFill>
              </a:rPr>
              <a:t>Sazonalidade mensal:</a:t>
            </a:r>
          </a:p>
          <a:p>
            <a:pPr lvl="1"/>
            <a:r>
              <a:rPr b="0" sz="1900">
                <a:solidFill>
                  <a:srgbClr val="333333"/>
                </a:solidFill>
              </a:rPr>
              <a:t>Pico de estresse: </a:t>
            </a:r>
            <a:r>
              <a:rPr b="1" sz="1900">
                <a:solidFill>
                  <a:srgbClr val="333333"/>
                </a:solidFill>
              </a:rPr>
              <a:t>abril (3,31%) e maio (3,29%)</a:t>
            </a:r>
            <a:r>
              <a:rPr b="0" sz="1900">
                <a:solidFill>
                  <a:srgbClr val="333333"/>
                </a:solidFill>
              </a:rPr>
              <a:t> - "ressaca" de IPVA/IPTU/material escolar</a:t>
            </a:r>
          </a:p>
          <a:p>
            <a:pPr lvl="1"/>
            <a:r>
              <a:rPr b="0" sz="1900">
                <a:solidFill>
                  <a:srgbClr val="333333"/>
                </a:solidFill>
              </a:rPr>
              <a:t>Alivio: </a:t>
            </a:r>
            <a:r>
              <a:rPr b="1" sz="1900">
                <a:solidFill>
                  <a:srgbClr val="333333"/>
                </a:solidFill>
              </a:rPr>
              <a:t>dezembro (3,09%)</a:t>
            </a:r>
            <a:r>
              <a:rPr b="0" sz="1900">
                <a:solidFill>
                  <a:srgbClr val="333333"/>
                </a:solidFill>
              </a:rPr>
              <a:t> - efeito do </a:t>
            </a:r>
            <a:r>
              <a:rPr b="1" sz="1900">
                <a:solidFill>
                  <a:srgbClr val="333333"/>
                </a:solidFill>
              </a:rPr>
              <a:t>13o salario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B4D"/>
                </a:solidFill>
              </a:defRPr>
            </a:pPr>
            <a:r>
              <a:t>Nucleo B: o efeito defasado da Selic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200">
                <a:solidFill>
                  <a:srgbClr val="333333"/>
                </a:solidFill>
              </a:rPr>
              <a:t>A Selic de hoje e o calote de dentro de 6 meses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Dolar</a:t>
            </a:r>
            <a:r>
              <a:rPr b="0" sz="2200">
                <a:solidFill>
                  <a:srgbClr val="333333"/>
                </a:solidFill>
              </a:rPr>
              <a:t> tem efeito </a:t>
            </a:r>
            <a:r>
              <a:rPr b="1" sz="2200">
                <a:solidFill>
                  <a:srgbClr val="333333"/>
                </a:solidFill>
              </a:rPr>
              <a:t>fraco e indireto</a:t>
            </a:r>
            <a:r>
              <a:rPr b="0" sz="2200">
                <a:solidFill>
                  <a:srgbClr val="333333"/>
                </a:solidFill>
              </a:rPr>
              <a:t> (via inflacao -&gt; Selic)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0" y="146304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Variavel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500"/>
                      </a:pPr>
                      <a:r>
                        <a:t>Correlacao com inadimplencia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500"/>
                        <a:t>Selic (mes corrente)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500"/>
                        <a:t>0,527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500"/>
                        <a:t>Selic - 3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500"/>
                        <a:t>0,673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1" sz="1500"/>
                        <a:t>Selic - 6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500"/>
                        <a:t>0,774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500"/>
                        <a:t>Dolar (qualquer defasagem)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500"/>
                        <a:t>-0,21 a -0,28 (fraco)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B4D"/>
                </a:solidFill>
              </a:defRPr>
            </a:pPr>
            <a:r>
              <a:t>ARIMA: o que vem pela frente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200">
                <a:solidFill>
                  <a:srgbClr val="333333"/>
                </a:solidFill>
              </a:rPr>
              <a:t>Serie nao-estacionaria -&gt; diferenciada -&gt; projecao de alta</a:t>
            </a:r>
          </a:p>
          <a:p>
            <a:pPr/>
            <a:r>
              <a:rPr b="0" sz="2200">
                <a:solidFill>
                  <a:srgbClr val="333333"/>
                </a:solidFill>
              </a:rPr>
              <a:t>Teste </a:t>
            </a:r>
            <a:r>
              <a:rPr b="1" sz="2200">
                <a:solidFill>
                  <a:srgbClr val="333333"/>
                </a:solidFill>
              </a:rPr>
              <a:t>ADF</a:t>
            </a:r>
            <a:r>
              <a:rPr b="0" sz="2200">
                <a:solidFill>
                  <a:srgbClr val="333333"/>
                </a:solidFill>
              </a:rPr>
              <a:t>: serie original </a:t>
            </a:r>
            <a:r>
              <a:rPr b="1" sz="2200">
                <a:solidFill>
                  <a:srgbClr val="333333"/>
                </a:solidFill>
              </a:rPr>
              <a:t>nao-estacionaria</a:t>
            </a:r>
            <a:r>
              <a:rPr b="0" sz="2200">
                <a:solidFill>
                  <a:srgbClr val="333333"/>
                </a:solidFill>
              </a:rPr>
              <a:t> (p = 0,272); diferenciada </a:t>
            </a:r>
            <a:r>
              <a:rPr b="1" sz="2200">
                <a:solidFill>
                  <a:srgbClr val="333333"/>
                </a:solidFill>
              </a:rPr>
              <a:t>estacionaria</a:t>
            </a:r>
            <a:r>
              <a:rPr b="0" sz="2200">
                <a:solidFill>
                  <a:srgbClr val="333333"/>
                </a:solidFill>
              </a:rPr>
              <a:t> (p = 0,036)</a:t>
            </a:r>
          </a:p>
          <a:p>
            <a:pPr/>
            <a:r>
              <a:rPr b="0" sz="2200">
                <a:solidFill>
                  <a:srgbClr val="333333"/>
                </a:solidFill>
              </a:rPr>
              <a:t>Modelo </a:t>
            </a:r>
            <a:r>
              <a:rPr b="1" sz="2200">
                <a:solidFill>
                  <a:srgbClr val="333333"/>
                </a:solidFill>
              </a:rPr>
              <a:t>ARIMA(1,1,1)</a:t>
            </a:r>
            <a:r>
              <a:rPr b="0" sz="2200">
                <a:solidFill>
                  <a:srgbClr val="333333"/>
                </a:solidFill>
              </a:rPr>
              <a:t>: coeficientes significativos, residuos sem autocorrelacao (Ljung-Box p = 0,47)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Forecast (6 meses): tendencia de alta continua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3B4D"/>
                </a:solidFill>
              </a:defRPr>
            </a:pPr>
            <a:r>
              <a:t>Conclusao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200">
                <a:solidFill>
                  <a:srgbClr val="333333"/>
                </a:solidFill>
              </a:rPr>
              <a:t>Duas defasagens, um Brasil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Parte A:</a:t>
            </a:r>
            <a:r>
              <a:rPr b="0" sz="2200">
                <a:solidFill>
                  <a:srgbClr val="333333"/>
                </a:solidFill>
              </a:rPr>
              <a:t> votar e obrigatorio, mas </a:t>
            </a:r>
            <a:r>
              <a:rPr b="1" sz="2200">
                <a:solidFill>
                  <a:srgbClr val="333333"/>
                </a:solidFill>
              </a:rPr>
              <a:t>querer participar</a:t>
            </a:r>
            <a:r>
              <a:rPr b="0" sz="2200">
                <a:solidFill>
                  <a:srgbClr val="333333"/>
                </a:solidFill>
              </a:rPr>
              <a:t> depende da </a:t>
            </a:r>
            <a:r>
              <a:rPr b="1" sz="2200">
                <a:solidFill>
                  <a:srgbClr val="333333"/>
                </a:solidFill>
              </a:rPr>
              <a:t>escolaridade</a:t>
            </a:r>
            <a:r>
              <a:rPr b="0" sz="2200">
                <a:solidFill>
                  <a:srgbClr val="333333"/>
                </a:solidFill>
              </a:rPr>
              <a:t> - nao da regiao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Parte B:</a:t>
            </a:r>
            <a:r>
              <a:rPr b="0" sz="2200">
                <a:solidFill>
                  <a:srgbClr val="333333"/>
                </a:solidFill>
              </a:rPr>
              <a:t> o calote de hoje reflete a </a:t>
            </a:r>
            <a:r>
              <a:rPr b="1" sz="2200">
                <a:solidFill>
                  <a:srgbClr val="333333"/>
                </a:solidFill>
              </a:rPr>
              <a:t>Selic de 6 meses atras</a:t>
            </a:r>
            <a:r>
              <a:rPr b="0" sz="2200">
                <a:solidFill>
                  <a:srgbClr val="333333"/>
                </a:solidFill>
              </a:rPr>
              <a:t> - politica monetaria tem efeito </a:t>
            </a:r>
            <a:r>
              <a:rPr b="1" sz="2200">
                <a:solidFill>
                  <a:srgbClr val="333333"/>
                </a:solidFill>
              </a:rPr>
              <a:t>lento</a:t>
            </a:r>
          </a:p>
          <a:p>
            <a:pPr/>
            <a:r>
              <a:rPr b="1" sz="2200">
                <a:solidFill>
                  <a:srgbClr val="333333"/>
                </a:solidFill>
              </a:rPr>
              <a:t>Limitacoes:</a:t>
            </a:r>
            <a:r>
              <a:rPr b="0" sz="2200">
                <a:solidFill>
                  <a:srgbClr val="333333"/>
                </a:solidFill>
              </a:rPr>
              <a:t> comparacao ecologica (A) e modelo univariado (B) - caminhos para trabalhos futuros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>
                <a:solidFill>
                  <a:srgbClr val="1F3B4D"/>
                </a:solidFill>
              </a:defRPr>
            </a:pPr>
            <a:r>
              <a:t>Obrigado!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